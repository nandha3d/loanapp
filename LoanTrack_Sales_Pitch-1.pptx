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109728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LOANTRACK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EA5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Every Lender in Tamil Nadu Needs This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7315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383280"/>
            <a:ext cx="2560320" cy="128016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49300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63M+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Microfinance borrowers in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560320" cy="128016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349300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16%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40233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NPA rate — March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383280"/>
            <a:ext cx="2560320" cy="128016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349300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₹47,327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40233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Tamil Nadu disbursements FY24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3383280"/>
            <a:ext cx="2560320" cy="128016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349300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2025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89720" y="40233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TN Money Lending Act enacted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Animazon  •  Erode, Tamil Nadu  •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563EB"/>
                </a:solidFill>
              </a:rPr>
              <a:t>THE SITUATION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Tamil Nadu's Lending Community Is at a Crossroads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566160" cy="420624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54864" cy="4206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Regulation Just Changed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Tamil Nadu Money Lending Act 2025 is now law. Every lender must maintain written records, disclose interest rates, and avoid coercive recovery. Most small lenders comply with none of this.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566160" cy="420624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463040"/>
            <a:ext cx="54864" cy="420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002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NPA Crisis Is Real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83464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India's microfinance NPA rate doubled to 16% in March 2025. The cause: lenders approving loans without knowing the borrower's existing debt load. Blind lending is destroying portfolios.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420624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463040"/>
            <a:ext cx="54864" cy="4206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6002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Borrowers Distrust Lenders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After 2025 crackdowns on predatory apps and coercive recovery, borrowers are scared. Honest lenders are suffering reputational damage for sins they didn't commit.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</a:rPr>
              <a:t>The lenders who adapt now will own the market in 5 years. The ones who don't will face legal complaints, agent fraud, and customer loss.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</a:rPr>
              <a:t>PROBLEM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They Are Lending Blind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448056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4480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The Reality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• </a:t>
            </a:r>
            <a:r>
              <a:rPr lang="en-US" sz="1250" dirty="0">
                <a:solidFill>
                  <a:srgbClr val="CBD5E1"/>
                </a:solidFill>
              </a:rPr>
              <a:t>A borrower walks in — lender has no idea they already have loans from 4 other finance companies on the same street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• </a:t>
            </a:r>
            <a:r>
              <a:rPr lang="en-US" sz="1250" dirty="0">
                <a:solidFill>
                  <a:srgbClr val="CBD5E1"/>
                </a:solidFill>
              </a:rPr>
              <a:t>No shared database exists between informal lenders — only gut feel and word of mouth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• </a:t>
            </a:r>
            <a:r>
              <a:rPr lang="en-US" sz="1250" dirty="0">
                <a:solidFill>
                  <a:srgbClr val="CBD5E1"/>
                </a:solidFill>
              </a:rPr>
              <a:t>Borrower takes multiple loans simultaneously — none of the 5 lenders know about each other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• </a:t>
            </a:r>
            <a:r>
              <a:rPr lang="en-US" sz="1250" dirty="0">
                <a:solidFill>
                  <a:srgbClr val="CBD5E1"/>
                </a:solidFill>
              </a:rPr>
              <a:t>Default happens — all 5 lenders lose money simultaneously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4348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• </a:t>
            </a:r>
            <a:r>
              <a:rPr lang="en-US" sz="1250" dirty="0">
                <a:solidFill>
                  <a:srgbClr val="CBD5E1"/>
                </a:solidFill>
              </a:rPr>
              <a:t>India's microfinance NPA doubled to 16% in 2025 — this is the core cause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5852160" cy="448056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280160"/>
            <a:ext cx="54864" cy="4480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LoanTrack's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Credit Score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24028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300–850 score built from each borrower's full repayment history on the platform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9260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Marketplace Profile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24612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Borrower applies through LoanTrack Connect — lender sees all prior loan records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9319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CIBIL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25196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Pull bureau score at loan creation — stops blind approval permanently (Phase 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49377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Over-leverage Flag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52578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System alerts if borrower already has active loans above your threshold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</a:rPr>
              <a:t>"Do you know how many loans your borrower has with other lenders right now?"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PROBLEM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 Fraud Is Completely Invisible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27432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35661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Short Collection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Agent collects ₹500 from borrower. Records ₹300. Pockets ₹200.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F4444"/>
                </a:solidFill>
              </a:rPr>
              <a:t>Detection: Discovered at month-end — money long gone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371600"/>
            <a:ext cx="3566160" cy="27432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71600"/>
            <a:ext cx="35661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41732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Ghost Visit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Agent marks borrower as 'visited/absent' without leaving the office. Pockets the travel time.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59E0B"/>
                </a:solidFill>
              </a:rPr>
              <a:t>Detection: Never detected without surprise audit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566160" cy="27432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371600"/>
            <a:ext cx="35661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41732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Receipt Issued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19202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Agent collects cash but gives no receipt to borrower. Borrower has no proof of payment.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28346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5CF6"/>
                </a:solidFill>
              </a:rPr>
              <a:t>Detection: Borrower disputes — no evidence on either side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11430000" cy="214884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343400"/>
            <a:ext cx="54864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LoanTrack Solves This With: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</a:rPr>
              <a:t>✓ </a:t>
            </a:r>
            <a:r>
              <a:rPr lang="en-US" sz="1250" dirty="0">
                <a:solidFill>
                  <a:srgbClr val="CBD5E1"/>
                </a:solidFill>
              </a:rPr>
              <a:t>GPS check-in at collection point — proves agent was physically at the borrower's location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2395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</a:rPr>
              <a:t>✓ </a:t>
            </a:r>
            <a:r>
              <a:rPr lang="en-US" sz="1250" dirty="0">
                <a:solidFill>
                  <a:srgbClr val="CBD5E1"/>
                </a:solidFill>
              </a:rPr>
              <a:t>Real-time sync — collection appears on owner's dashboard the moment agent submits — same day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58698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</a:rPr>
              <a:t>✓ </a:t>
            </a:r>
            <a:r>
              <a:rPr lang="en-US" sz="1250" dirty="0">
                <a:solidFill>
                  <a:srgbClr val="CBD5E1"/>
                </a:solidFill>
              </a:rPr>
              <a:t>SMS receipt to borrower automatically — borrower can flag if agent claimed to collect but didn't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934456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</a:rPr>
              <a:t>✓ </a:t>
            </a:r>
            <a:r>
              <a:rPr lang="en-US" sz="1250" dirty="0">
                <a:solidFill>
                  <a:srgbClr val="CBD5E1"/>
                </a:solidFill>
              </a:rPr>
              <a:t>Agent performance dashboard — owner sees each agent's daily total and compares to expected amount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</a:rPr>
              <a:t>PROBLEM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2025 Law Has Left Every Informal Lender Exposed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1430000" cy="32004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14300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TN Act 2025 Requirement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4904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Reality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149047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if Uncompliant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Written loan agreement with all terms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08483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Paper chit or verbal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20848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Criminal complaint — undefendable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Transparent interest rate in writing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6791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Communicated verbally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67919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Accused of usury — no proof of agreed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Non-coercive recovery documented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27355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Agent visits, calls — standard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327355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FIR filed by borrower for harassment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8679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Full transaction documentation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8679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Paper register, cash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86791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No audit trail — allegations impossible to refute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11430000" cy="182880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663440"/>
            <a:ext cx="54864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006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LoanTrack = Your Compliance Backbone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Every loan, every collection, every penalty — timestamped, GPS-verified, agent-attributed, exportable as PDF. If a borrower files a complaint under the TN Act, you open LoanTrack and print the audit log. Case closed.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</a:rPr>
              <a:t>"Did you know you can now be sued if you have no paper trail of your loans?"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</a:rPr>
              <a:t>PROBLEMS 4 &amp;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Cash Is Unaccountable  &amp;  Honest Lenders Can't Stand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577840" cy="443484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4434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Gap 4 — Cash Is Unaccountable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Owner doesn't know today's total until agents return at evening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Month-end reconciliation: 30 days of leakage discovered too late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054096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Business income and personal expenses mixed — no real profit view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62102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Multi-branch: no visibility on which branch is profitable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206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LoanTrack Answer: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49884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Live dashboard  •  Daily reconciliation  •  Interest income report  •  Branch P&amp;L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577840" cy="443484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80160"/>
            <a:ext cx="54864" cy="4434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Gap 5 — Honest Lenders Can't Stand 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No digital presence — looks identical to a predatory lender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248716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No borrower reviews or ratings — trust built only by word of mouth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054096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After 2025 crackdowns, all informal lenders look suspicious to borrowers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62102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• Honest lenders losing business to the fear created by bad actors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LoanTrack Answer: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49884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Verified lender badge  •  Public profile  •  Interest rate display  •  Borrower reviews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563EB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 Reasons LoanTrack Is Unique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Tamil Language 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Only software in market with full Tamil interface — agents, admins, reports all in Tamil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508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 + Auto + Chit in 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Replace 3 tools / registers with 1 subscription. No competitor bundles all three.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5087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15544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TN Act 2025 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Built-in audit trail, timestamped GPS entries, exportable PDF — legally defensible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GPS + Real-Time 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Owner sees every collection live. GPS proves agent visited. No more month-end surprises.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406908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114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₹999/month Self-Serve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470916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Sign up online, pay by card. No demo call. No ₹80,000 setup fee. No enterprise sales.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3886200"/>
            <a:ext cx="3657600" cy="228600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0690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2560" y="4114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Verified Lender Marketplace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Borrowers find you on LoanTrack Connect. Verified badge. Transparent rates. More leads.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THE 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Lender's Day — Before and After LoanTrack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3B1515"/>
          </a:solidFill>
          <a:ln w="12700">
            <a:solidFill>
              <a:srgbClr val="3B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3502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BEFORE  — Without LoanTrack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35024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AFTER  — With LoanTrack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48640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28800"/>
            <a:ext cx="557784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01952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Count cash from yesterday, update paper register, call agents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90195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Dashboard on phone — auto-reconciled overnight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210312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42032"/>
            <a:ext cx="548640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542032"/>
            <a:ext cx="557784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61518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Ask around about borrower, check own register manually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61518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Credit score + existing loan count — data-based decision in 30 seconds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816352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55264"/>
            <a:ext cx="548640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255264"/>
            <a:ext cx="557784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328416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Call agents at 5 PM asking how much collected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328416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Watch live — GPS-confirmed collection entries update in real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97880" y="35295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68496"/>
            <a:ext cx="548640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968496"/>
            <a:ext cx="557784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04164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Write receipt by hand on carbon copy paper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04164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SMS sent automatically to borrower on every payment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4242816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681728"/>
            <a:ext cx="548640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681728"/>
            <a:ext cx="5577840" cy="658368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75488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3-5 day month-end reconciliation from paper registers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7548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One click — monthly report with full audit trail generated instantly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97880" y="4956048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5394960"/>
            <a:ext cx="548640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5394960"/>
            <a:ext cx="557784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5468112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Complaint filed under TN Act — no documentation to defend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546811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Export timestamped audit log as PDF — legally defensible in minutes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97880" y="566928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29"/>
          <p:cNvSpPr/>
          <p:nvPr/>
        </p:nvSpPr>
        <p:spPr>
          <a:xfrm>
            <a:off x="8425180" y="1280160"/>
            <a:ext cx="2900680" cy="521208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563EB"/>
                </a:solidFill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Simple. Transparent. No Surprises.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645410" y="1627505"/>
            <a:ext cx="2508885" cy="459359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28290" y="1947545"/>
            <a:ext cx="225806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Basic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28290" y="2377440"/>
            <a:ext cx="2258060" cy="635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28290" y="2450465"/>
            <a:ext cx="125476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₹999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74210" y="2724785"/>
            <a:ext cx="112903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/month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28290" y="318198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Up to </a:t>
            </a:r>
            <a:r>
              <a:rPr lang="en-GB" altLang="en-US" sz="1200" dirty="0">
                <a:solidFill>
                  <a:srgbClr val="CBD5E1"/>
                </a:solidFill>
              </a:rPr>
              <a:t>25</a:t>
            </a:r>
            <a:r>
              <a:rPr lang="en-US" sz="1200" dirty="0">
                <a:solidFill>
                  <a:srgbClr val="CBD5E1"/>
                </a:solidFill>
              </a:rPr>
              <a:t>active loans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28290" y="357505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1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28290" y="396811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3 agent accounts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28290" y="436181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Daily / weekly / monthly EMI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28290" y="475488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Tamil + English + Hindi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28290" y="514794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Web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28290" y="554101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Standard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13400" y="1216025"/>
            <a:ext cx="2602865" cy="5276215"/>
          </a:xfrm>
          <a:prstGeom prst="rect">
            <a:avLst/>
          </a:prstGeom>
          <a:solidFill>
            <a:srgbClr val="0D1A3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6425" y="1261745"/>
            <a:ext cx="2508885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2563EB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69305" y="1627505"/>
            <a:ext cx="225806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Pro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69305" y="2057400"/>
            <a:ext cx="2258060" cy="635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9305" y="2130425"/>
            <a:ext cx="125476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₹1,999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515225" y="2404745"/>
            <a:ext cx="112903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/month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69305" y="286194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Up to 500 active loans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69305" y="325501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5 branches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69305" y="364807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Unlimited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69305" y="404177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All EMI frequencies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69305" y="443484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All 10 Indian languages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69305" y="482790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Flutter agent mobile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69305" y="522097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SMS / WhatsApp notifications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69305" y="561403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Chit fund + Auto finance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69305" y="600773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Advanced reports + 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35415" y="1880870"/>
            <a:ext cx="225806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035415" y="2310765"/>
            <a:ext cx="2258060" cy="635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35415" y="2383790"/>
            <a:ext cx="125476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₹2,999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10575290" y="2450465"/>
            <a:ext cx="112903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/month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35415" y="311531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Unlimited loans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35415" y="350837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Unlimited branches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35415" y="390144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White-label mobile app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35415" y="429514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CIBIL integration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35415" y="468820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eKYC via Aadhaar OTP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35415" y="508127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Accounting module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35415" y="547433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API access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35415" y="586740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Priority support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35415" y="626110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Marketplace premium listing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</a:rPr>
              <a:t>vs Vasool Drive: ₹2,000/year for basic mobile app only  •  vs Jainam: ₹80,000 one-time, no SaaS</a:t>
            </a:r>
            <a:endParaRPr lang="en-US" sz="1150" dirty="0"/>
          </a:p>
        </p:txBody>
      </p:sp>
      <p:sp>
        <p:nvSpPr>
          <p:cNvPr id="46" name="Shape 2"/>
          <p:cNvSpPr/>
          <p:nvPr/>
        </p:nvSpPr>
        <p:spPr>
          <a:xfrm>
            <a:off x="0" y="1627505"/>
            <a:ext cx="2508885" cy="4540885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3"/>
          <p:cNvSpPr/>
          <p:nvPr/>
        </p:nvSpPr>
        <p:spPr>
          <a:xfrm>
            <a:off x="182880" y="2000250"/>
            <a:ext cx="225806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altLang="en-US" sz="1800" b="1" dirty="0">
                <a:solidFill>
                  <a:srgbClr val="0EA5E9"/>
                </a:solidFill>
              </a:rPr>
              <a:t>Free</a:t>
            </a:r>
            <a:endParaRPr lang="en-GB" altLang="en-US" sz="1800" b="1" dirty="0">
              <a:solidFill>
                <a:srgbClr val="0EA5E9"/>
              </a:solidFill>
            </a:endParaRPr>
          </a:p>
        </p:txBody>
      </p:sp>
      <p:sp>
        <p:nvSpPr>
          <p:cNvPr id="48" name="Shape 4"/>
          <p:cNvSpPr/>
          <p:nvPr/>
        </p:nvSpPr>
        <p:spPr>
          <a:xfrm>
            <a:off x="182880" y="2430145"/>
            <a:ext cx="2258060" cy="635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49" name="Text 5"/>
          <p:cNvSpPr/>
          <p:nvPr/>
        </p:nvSpPr>
        <p:spPr>
          <a:xfrm>
            <a:off x="182880" y="2503170"/>
            <a:ext cx="125476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</a:t>
            </a:r>
            <a:r>
              <a:rPr lang="en-GB" altLang="en-US" sz="3200" b="1" dirty="0">
                <a:solidFill>
                  <a:srgbClr val="FFFFFF"/>
                </a:solidFill>
              </a:rPr>
              <a:t>0</a:t>
            </a:r>
            <a:endParaRPr lang="en-GB" altLang="en-US" sz="3200" b="1" dirty="0">
              <a:solidFill>
                <a:srgbClr val="FFFFFF"/>
              </a:solidFill>
            </a:endParaRPr>
          </a:p>
        </p:txBody>
      </p:sp>
      <p:sp>
        <p:nvSpPr>
          <p:cNvPr id="50" name="Text 7"/>
          <p:cNvSpPr/>
          <p:nvPr/>
        </p:nvSpPr>
        <p:spPr>
          <a:xfrm>
            <a:off x="182880" y="323469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Up to </a:t>
            </a:r>
            <a:r>
              <a:rPr lang="en-GB" altLang="en-US" sz="1200" dirty="0">
                <a:solidFill>
                  <a:srgbClr val="CBD5E1"/>
                </a:solidFill>
              </a:rPr>
              <a:t>10 </a:t>
            </a:r>
            <a:r>
              <a:rPr lang="en-US" sz="1200" dirty="0">
                <a:solidFill>
                  <a:srgbClr val="CBD5E1"/>
                </a:solidFill>
              </a:rPr>
              <a:t>active loans</a:t>
            </a:r>
            <a:endParaRPr lang="en-US" sz="1200" dirty="0"/>
          </a:p>
        </p:txBody>
      </p:sp>
      <p:sp>
        <p:nvSpPr>
          <p:cNvPr id="51" name="Text 8"/>
          <p:cNvSpPr/>
          <p:nvPr/>
        </p:nvSpPr>
        <p:spPr>
          <a:xfrm>
            <a:off x="182880" y="362775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1 branch</a:t>
            </a:r>
            <a:endParaRPr lang="en-US" sz="1200" dirty="0"/>
          </a:p>
        </p:txBody>
      </p:sp>
      <p:sp>
        <p:nvSpPr>
          <p:cNvPr id="52" name="Text 9"/>
          <p:cNvSpPr/>
          <p:nvPr/>
        </p:nvSpPr>
        <p:spPr>
          <a:xfrm>
            <a:off x="182880" y="402082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GB" altLang="en-US" sz="1200" dirty="0">
                <a:solidFill>
                  <a:srgbClr val="CBD5E1"/>
                </a:solidFill>
              </a:rPr>
              <a:t>1</a:t>
            </a:r>
            <a:r>
              <a:rPr lang="en-US" sz="1200" dirty="0">
                <a:solidFill>
                  <a:srgbClr val="CBD5E1"/>
                </a:solidFill>
              </a:rPr>
              <a:t> agent accounts</a:t>
            </a:r>
            <a:endParaRPr lang="en-US" sz="1200" dirty="0"/>
          </a:p>
        </p:txBody>
      </p:sp>
      <p:sp>
        <p:nvSpPr>
          <p:cNvPr id="53" name="Text 10"/>
          <p:cNvSpPr/>
          <p:nvPr/>
        </p:nvSpPr>
        <p:spPr>
          <a:xfrm>
            <a:off x="182880" y="441452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Daily / weekly / monthly EMI</a:t>
            </a:r>
            <a:endParaRPr lang="en-US" sz="1200" dirty="0"/>
          </a:p>
        </p:txBody>
      </p:sp>
      <p:sp>
        <p:nvSpPr>
          <p:cNvPr id="54" name="Text 11"/>
          <p:cNvSpPr/>
          <p:nvPr/>
        </p:nvSpPr>
        <p:spPr>
          <a:xfrm>
            <a:off x="182880" y="480758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Tamil + English + Hindi</a:t>
            </a:r>
            <a:endParaRPr lang="en-US" sz="1200" dirty="0"/>
          </a:p>
        </p:txBody>
      </p:sp>
      <p:sp>
        <p:nvSpPr>
          <p:cNvPr id="55" name="Text 12"/>
          <p:cNvSpPr/>
          <p:nvPr/>
        </p:nvSpPr>
        <p:spPr>
          <a:xfrm>
            <a:off x="182880" y="5200650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Web dashboard</a:t>
            </a:r>
            <a:endParaRPr lang="en-US" sz="1200" dirty="0"/>
          </a:p>
        </p:txBody>
      </p:sp>
      <p:sp>
        <p:nvSpPr>
          <p:cNvPr id="56" name="Text 13"/>
          <p:cNvSpPr/>
          <p:nvPr/>
        </p:nvSpPr>
        <p:spPr>
          <a:xfrm>
            <a:off x="182880" y="5593715"/>
            <a:ext cx="2258060" cy="21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✓ </a:t>
            </a:r>
            <a:r>
              <a:rPr lang="en-US" sz="1200" dirty="0">
                <a:solidFill>
                  <a:srgbClr val="CBD5E1"/>
                </a:solidFill>
              </a:rPr>
              <a:t>Standard reports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0B981"/>
                </a:solidFill>
              </a:rPr>
              <a:t>READY TO TRANSFORM YOUR LENDING BUSINESS?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144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Start Free.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No Setup Fee. No Demo Call.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661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291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 Up Online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Visit loantrack.in/signup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Enter your business details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Pick a plan — ₹999/month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5661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2461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3291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in 10 Minutes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Add your first loan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Invite your agents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Switch to Tamil language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3108960"/>
            <a:ext cx="35661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32461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98280" y="3291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 the Difference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8862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Real-time dashboard live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GPS collections working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Compliance automatically built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868680"/>
          </a:xfrm>
          <a:prstGeom prst="rect">
            <a:avLst/>
          </a:prstGeom>
          <a:solidFill>
            <a:srgbClr val="151E35"/>
          </a:solidFill>
          <a:ln w="635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806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Contact us today: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5806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www.loantrack.in  •  animazon.in  •  Erode, Tamil Nadu  •  WhatsApp: +91 XXXXX XXXXX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614476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30-day free trial. No credit card required. Cancel anytime.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7479</Words>
  <Application>WPS Presentation</Application>
  <PresentationFormat>On-screen Show (16:9)</PresentationFormat>
  <Paragraphs>387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LoanTrack — Why Every Lender Needs This</dc:title>
  <dc:creator>PptxGenJS</dc:creator>
  <dc:subject>PptxGenJS Presentation</dc:subject>
  <cp:lastModifiedBy>Nano Robotics</cp:lastModifiedBy>
  <cp:revision>3</cp:revision>
  <dcterms:created xsi:type="dcterms:W3CDTF">2026-05-19T02:11:00Z</dcterms:created>
  <dcterms:modified xsi:type="dcterms:W3CDTF">2026-05-23T12:19:00Z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9C53B5628D574DB9893A3B225E1AA922_12</vt:lpwstr>
  </property>
</Properties>
</file>